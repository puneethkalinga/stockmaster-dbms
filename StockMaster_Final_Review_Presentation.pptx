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" cy="4480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914400"/>
            <a:ext cx="100584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DATABASE MANAGEMENT SYSTEM • DEPARTMENT OF ARTIFICIAL INTELLIGENCE • BATCH B • GROUP 18</a:t>
            </a:r>
          </a:p>
          <a:p>
            <a:pPr>
              <a:spcBef>
                <a:spcPts val="800"/>
              </a:spcBef>
              <a:defRPr sz="4000" b="1">
                <a:solidFill>
                  <a:srgbClr val="0F172A"/>
                </a:solidFill>
                <a:latin typeface="Arial"/>
              </a:defRPr>
            </a:pPr>
            <a:r>
              <a:t>STOCK MASTER</a:t>
            </a:r>
          </a:p>
          <a:p>
            <a:pPr>
              <a:spcBef>
                <a:spcPts val="400"/>
              </a:spcBef>
              <a:defRPr sz="1600">
                <a:solidFill>
                  <a:srgbClr val="2563EB"/>
                </a:solidFill>
                <a:latin typeface="Calibri"/>
              </a:defRPr>
            </a:pPr>
            <a:r>
              <a:t>Enterprise Multi-Warehouse Inventory &amp; Intelligent Supply Chain Management System</a:t>
            </a:r>
          </a:p>
          <a:p>
            <a:pPr>
              <a:spcBef>
                <a:spcPts val="600"/>
              </a:spcBef>
              <a:defRPr sz="1200">
                <a:solidFill>
                  <a:srgbClr val="334155"/>
                </a:solidFill>
                <a:latin typeface="Calibri"/>
              </a:defRPr>
            </a:pPr>
            <a:r>
              <a:t>Department of Artificial Intelligence • Amrita Vishwa Vidyapeetham, Coimbatore, India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931920"/>
            <a:ext cx="9875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041648"/>
            <a:ext cx="9509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PROJECT TEAM MEMBERS — BATCH B | GROUP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343400"/>
            <a:ext cx="950976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Calibri"/>
              </a:defRPr>
            </a:pPr>
            <a:r>
              <a:t>•  Puneeth Kumar Kalinga (CB.SC.U4AIE24146)  —  </a:t>
            </a:r>
            <a:r>
              <a:rPr b="0">
                <a:solidFill>
                  <a:srgbClr val="334155"/>
                </a:solidFill>
              </a:rPr>
              <a:t>Team Lead — Backend Architecture, Schema DDL, REST APIs &amp; Forecasting</a:t>
            </a:r>
          </a:p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Calibri"/>
              </a:defRPr>
            </a:pPr>
            <a:r>
              <a:t>•  Varshitha P (CB.SC.U4AIE24144)  —  </a:t>
            </a:r>
            <a:r>
              <a:rPr b="0">
                <a:solidFill>
                  <a:srgbClr val="334155"/>
                </a:solidFill>
              </a:rPr>
              <a:t>Database Design — Entity-Relationship Modeling, 3NF/BCNF Normalization &amp; Constraints</a:t>
            </a:r>
          </a:p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Calibri"/>
              </a:defRPr>
            </a:pPr>
            <a:r>
              <a:t>•  M Sarveshwara Reddy (CB.SC.U4AIE24131)  —  </a:t>
            </a:r>
            <a:r>
              <a:rPr b="0">
                <a:solidFill>
                  <a:srgbClr val="334155"/>
                </a:solidFill>
              </a:rPr>
              <a:t>Frontend Engineering — Responsive Web UI &amp; Interactive Modals</a:t>
            </a:r>
          </a:p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Calibri"/>
              </a:defRPr>
            </a:pPr>
            <a:r>
              <a:t>•  S Tagur Misra (CB.SC.U4AIE24150)  —  </a:t>
            </a:r>
            <a:r>
              <a:rPr b="0">
                <a:solidFill>
                  <a:srgbClr val="334155"/>
                </a:solidFill>
              </a:rPr>
              <a:t>Backend &amp; QA — Complex Joins, View Design, Seed Data &amp; Audit Exports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01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Problem Statement &amp; Industry 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Operational breakdowns in multi-warehouse supply chains and inventory management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10728655" cy="96012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72768"/>
            <a:ext cx="10362895" cy="777240"/>
          </a:xfrm>
          <a:prstGeom prst="rect">
            <a:avLst/>
          </a:prstGeom>
          <a:noFill/>
        </p:spPr>
        <p:txBody>
          <a:bodyPr wrap="square" lIns="45720" rIns="137160" tIns="18288" bIns="18288">
            <a:spAutoFit/>
          </a:bodyPr>
          <a:lstStyle/>
          <a:p>
            <a:pPr>
              <a:defRPr sz="1000" b="1">
                <a:solidFill>
                  <a:srgbClr val="B91C1C"/>
                </a:solidFill>
              </a:defRPr>
            </a:pPr>
            <a:r>
              <a:t>CORE CHALLENGE: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Modern enterprises operating distributed distribution centers struggle with decentralized stock tracking, manual transaction logging, and disconnected procurement-to-cash workflows—resulting in frequent stockouts, phantom inventory, and inaccurate financial reporting.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5176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B91C1C"/>
                </a:solidFill>
                <a:latin typeface="Arial"/>
              </a:defRPr>
            </a:pPr>
            <a:r>
              <a:t>01 — Lack of Centralized Visibility</a:t>
            </a:r>
          </a:p>
          <a:p>
            <a:pPr>
              <a:spcBef>
                <a:spcPts val="6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Stock quantities and warehouse storage capacities across multiple geographic sites are fragmented across disconnected spreadsheets, leaving managers blind to real-time inventory levels.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8095" y="265176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0975" y="278892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B45309"/>
                </a:solidFill>
                <a:latin typeface="Arial"/>
              </a:defRPr>
            </a:pPr>
            <a:r>
              <a:t>02 — Manual &amp; Inconsistent Stock Adjustments</a:t>
            </a:r>
          </a:p>
          <a:p>
            <a:pPr>
              <a:spcBef>
                <a:spcPts val="6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Stock updates from supplier receipts and sales dispatches rely on manual entry, creating human errors, inventory drift, and lack of atomic transaction guarantees.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66344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03 — Disconnected Procurement &amp; Billing Workflows</a:t>
            </a:r>
          </a:p>
          <a:p>
            <a:pPr>
              <a:spcBef>
                <a:spcPts val="6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Purchase Orders (PO), Customer Sales Orders (SO), Carrier Logistics, and Accounts Receivables operate in silos, causing fulfillment bottlenecks and ledger discrepancies.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8095" y="466344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0975" y="480060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7848"/>
                </a:solidFill>
                <a:latin typeface="Arial"/>
              </a:defRPr>
            </a:pPr>
            <a:r>
              <a:t>04 — No Predictive Stockout Prevention</a:t>
            </a:r>
          </a:p>
          <a:p>
            <a:pPr>
              <a:spcBef>
                <a:spcPts val="6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Warehouses cannot forecast product burn-rate velocities or days of remaining inventory, resulting in sudden stockouts or expensive capital lockup from over-stocking.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02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Project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Structured technical goals designed around relational integrity, automation, and analytics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01 — Centralize Multi-Warehouse Holdings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Design and implement a fully normalized (3NF/BCNF) relational schema modeling products, warehouses, suppliers, inventory levels, order pipelines, shipments, and billing ledgers.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1460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60604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02 — Automated Inventory Synchronization via Triggers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Implement event-driven database triggers for automated stock decrement upon sales dispatch (with non-negative CHECK constraint rollback) and automated UPSERT replenishment upon purchase order receipt.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1188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03 — Complete Procurement-to-Billing Pipeline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Relate purchase orders, supplier fulfillment, customer sales distribution, carrier shipments, and financial billing ledgers with strict foreign key constraints and cascade rules.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2628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61772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04 — Smart Demand Forecasting &amp; Auto-PO Drafting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Compute dynamic sales run-rate velocity, days-to-stockout, and tiered stockout risk levels (Critical, Moderate, Healthy) to automatically generate recommended restock Purchase Orders.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53212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62356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05 — Role-Based Access Control (RBAC) &amp; Spreadsheet Audit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Implement session-governed authentication isolating System Admin authority from Warehouse Staff operational duties, with 1-click CSV spreadsheet data exports across all master entities.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03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System Actors &amp; Role Capabilities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Delineation of stakeholder responsibilities across the StockMaster platform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Arial"/>
              </a:defRPr>
            </a:pPr>
            <a:r>
              <a:t>01 — SYSTEM ADMIN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Calibri"/>
              </a:defRPr>
            </a:pPr>
            <a:r>
              <a:t>Executive Authority &amp; Management</a:t>
            </a:r>
          </a:p>
          <a:p>
            <a:pPr>
              <a:spcAft>
                <a:spcPts val="4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Master Product Catalog &amp; Pricing Management (Register SKU, update limits)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Supplier Directory &amp; Vendor Onboarding (Contacts, company profiles)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Warehouse Depot Administration (Capacity allocation, location setup)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Executive Financial Auditing (Revenues, Purchasing Costs, Net Balance)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Billing Ledger Oversight &amp; Compliance CSV Spreadsheet Exports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User Account Governance &amp; Role-Based Access Configuration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0876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645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B45309"/>
                </a:solidFill>
                <a:latin typeface="Arial"/>
              </a:defRPr>
            </a:pPr>
            <a:r>
              <a:t>02 — WAREHOUSE STAFF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Calibri"/>
              </a:defRPr>
            </a:pPr>
            <a:r>
              <a:t>Operational Warehouse Specialist</a:t>
            </a:r>
          </a:p>
          <a:p>
            <a:pPr>
              <a:spcAft>
                <a:spcPts val="4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Live Stock Levels &amp; Warehouse Storage Utilization Inspection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Inbound Supply Receiving (Mark POs as 'Received' to trigger replenishment)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Outbound Logistics Progression (Processing ➔ In Transit ➔ Delivered)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Low-Stock Threshold Monitoring &amp; Automated Restock Verification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Security Lockout: Financial Aggregates &amp; Ledger Billings are masked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Restricted Actions: Cannot alter master SKU definitions or base pricing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0876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45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7848"/>
                </a:solidFill>
                <a:latin typeface="Arial"/>
              </a:defRPr>
            </a:pPr>
            <a:r>
              <a:t>03 — ACTIVE DATABASE DAEMON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Calibri"/>
              </a:defRPr>
            </a:pPr>
            <a:r>
              <a:t>Event-Driven Relational Subsystem</a:t>
            </a:r>
          </a:p>
          <a:p>
            <a:pPr>
              <a:spcAft>
                <a:spcPts val="4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Automated Trigger Execution upon sales and purchase order events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Integrity &amp; CHECK Constraint Enforcement (Rolls back invalid transactions)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Real-Time Low-Stock View Evaluation (Joins inventory, products &amp; warehouses)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Foreign Key Cascade Propagation (Referential integrity preservation)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ACID Transaction Isolation (Atomic order creation and billing linkage)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Demand Forecasting Run-Rate Velocity Calculations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04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System Architecture — UML Use Case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Actor interaction boundaries, permissions, and database trigger inclusions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80467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ockmaster_uml_use_c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786384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961120" y="1508760"/>
            <a:ext cx="24990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618488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USE CASE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1965960"/>
            <a:ext cx="2240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2563EB"/>
                </a:solidFill>
              </a:defRPr>
            </a:pPr>
            <a:r>
              <a:t>▶ Actor Boundaries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System Admin (full configuration &amp; financial audit) vs. Warehouse Staff (inbound &amp; outbound fulfillment).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&lt;&lt;includes&gt;&gt; Logic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Sales Order item insertion includes atomic inventory stock decrement.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Auto-Restock Trigger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Purchase Order receipt executes an UPSERT stock restock trigger.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11 Master Entities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Full boundary covers master catalogs, transactions, shipments, and billing ledgers.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Security Gate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Role-based authentication guarantees data isolation across operations.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05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System Architecture — UML Class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Object-oriented domain model mapping attributes, methods, and entity multiplicities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80467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ockmaster_uml_clas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786384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961120" y="1508760"/>
            <a:ext cx="24990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618488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CLASS MODEL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1965960"/>
            <a:ext cx="2240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107848"/>
                </a:solidFill>
              </a:defRPr>
            </a:pPr>
            <a:r>
              <a:t>▶ 11 Domain Classes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Directly mirrors the normalized 3NF relational database schema.</a:t>
            </a:r>
          </a:p>
          <a:p>
            <a:pPr>
              <a:spcBef>
                <a:spcPts val="600"/>
              </a:spcBef>
              <a:defRPr sz="1050" b="1">
                <a:solidFill>
                  <a:srgbClr val="107848"/>
                </a:solidFill>
              </a:defRPr>
            </a:pPr>
            <a:r>
              <a:t>▶ Multiplicities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1:N for Orders to Items; 1:1 strictly enforced for Orders to Shipments and Billing.</a:t>
            </a:r>
          </a:p>
          <a:p>
            <a:pPr>
              <a:spcBef>
                <a:spcPts val="600"/>
              </a:spcBef>
              <a:defRPr sz="1050" b="1">
                <a:solidFill>
                  <a:srgbClr val="107848"/>
                </a:solidFill>
              </a:defRPr>
            </a:pPr>
            <a:r>
              <a:t>▶ Encapsulated Methods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Business actions like verifyStock(), dispatchShipment(), processPayment().</a:t>
            </a:r>
          </a:p>
          <a:p>
            <a:pPr>
              <a:spcBef>
                <a:spcPts val="600"/>
              </a:spcBef>
              <a:defRPr sz="1050" b="1">
                <a:solidFill>
                  <a:srgbClr val="107848"/>
                </a:solidFill>
              </a:defRPr>
            </a:pPr>
            <a:r>
              <a:t>▶ Audit Integrity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TotalAmount and Balance ledgers automatically reconciled via backend logic.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06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Conceptual Model — Entity-Relationship (ER)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Chen's notation mapping 11 relational entities, key attributes, relationships, and cardinalities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80467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ockmaster_er_diagram_sty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786384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961120" y="1508760"/>
            <a:ext cx="24990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618488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ER DESIGN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1965960"/>
            <a:ext cx="2240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00" b="1">
                <a:solidFill>
                  <a:srgbClr val="2563EB"/>
                </a:solidFill>
              </a:defRPr>
            </a:pPr>
            <a:r>
              <a:t>• 11 Entities: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  Normalized into Master, Transaction, and Ledger domains.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</a:defRPr>
            </a:pPr>
            <a:r>
              <a:t>• M:N Resolution: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  Products &amp; Warehouses resolved via INVENTORY junction table.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</a:defRPr>
            </a:pPr>
            <a:r>
              <a:t>• 1:N Relationships: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  Suppliers ➔ Products, Warehouses ➔ Orders, PO ➔ PO Items.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</a:defRPr>
            </a:pPr>
            <a:r>
              <a:t>• 1:1 Invoicing: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  Sales Orders ➔ Shipments and Sales Orders ➔ Billing enforce UNIQUE keys.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</a:defRPr>
            </a:pPr>
            <a:r>
              <a:t>• Active Triggers: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  Modeled via event diamonds (Deducts Stock, Increases Stock).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</a:defRPr>
            </a:pPr>
            <a:r>
              <a:t>• Referential Rules: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  Strict ON DELETE CASCADE preserves referential integrity.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07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Physical Relational Database Schema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Visual mapping of 11 normalized tables, Primary Keys [PK], Foreign Keys [FK], and Integrity Constraints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80467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lational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786384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961120" y="1508760"/>
            <a:ext cx="24990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618488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SCHEMA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1965960"/>
            <a:ext cx="2240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2563EB"/>
                </a:solidFill>
              </a:defRPr>
            </a:pPr>
            <a:r>
              <a:t>▶ 11 Tables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Complete coverage: Users, Suppliers, Products, Warehouses, Inventory, POs, SOs, Shipments &amp; Billing.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Referential Integrity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Foreign key cascades (ON DELETE CASCADE) guarantee zero orphan child rows.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1:1 Enforcement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UNIQUE constraints on SalesOrderID in Shipments and Billing guarantee clean 1:1 extensions.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Domain Constraints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CHECK constraints guarantee positive pricing (UnitPrice &gt; 0) and non-negative stock (Quantity &gt;= 0).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08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Relational Database Schema (Physical Model)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11 normalized tables categorized into Master Data, Inventory/Orders, and Billing Pillars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34134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45920"/>
            <a:ext cx="31391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E3A8A"/>
                </a:solidFill>
              </a:defRPr>
            </a:pPr>
            <a:r>
              <a:t>PILLAR 1: MASTER DATA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USERS</a:t>
            </a:r>
          </a:p>
          <a:p>
            <a:pPr>
              <a:spcBef>
                <a:spcPts val="200"/>
              </a:spcBef>
            </a:pPr>
            <a:r>
              <a:rPr sz="950" b="1" u="sng">
                <a:solidFill>
                  <a:srgbClr val="1E3A8A"/>
                </a:solidFill>
                <a:latin typeface="Consolas"/>
              </a:rPr>
              <a:t>UserID</a:t>
            </a:r>
            <a:r>
              <a:rPr sz="950" b="0" u="none">
                <a:solidFill>
                  <a:srgbClr val="334155"/>
                </a:solidFill>
                <a:latin typeface="Consolas"/>
              </a:rPr>
              <a:t> [PK], Name, Email [UNIQUE], Password, Role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SUPPLIERS</a:t>
            </a:r>
          </a:p>
          <a:p>
            <a:pPr>
              <a:spcBef>
                <a:spcPts val="200"/>
              </a:spcBef>
            </a:pPr>
            <a:r>
              <a:rPr sz="950" b="1" u="sng">
                <a:solidFill>
                  <a:srgbClr val="1E3A8A"/>
                </a:solidFill>
                <a:latin typeface="Consolas"/>
              </a:rPr>
              <a:t>SupplierID</a:t>
            </a:r>
            <a:r>
              <a:rPr sz="950" b="0" u="none">
                <a:solidFill>
                  <a:srgbClr val="334155"/>
                </a:solidFill>
                <a:latin typeface="Consolas"/>
              </a:rPr>
              <a:t> [PK], SupplierName, Phone, Email [UNIQUE], Address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PRODUCTS</a:t>
            </a:r>
          </a:p>
          <a:p>
            <a:pPr>
              <a:spcBef>
                <a:spcPts val="200"/>
              </a:spcBef>
            </a:pPr>
            <a:r>
              <a:rPr sz="950" b="1" u="sng">
                <a:solidFill>
                  <a:srgbClr val="1E3A8A"/>
                </a:solidFill>
                <a:latin typeface="Consolas"/>
              </a:rPr>
              <a:t>ProductID</a:t>
            </a:r>
            <a:r>
              <a:rPr sz="950" b="0" u="none">
                <a:solidFill>
                  <a:srgbClr val="334155"/>
                </a:solidFill>
                <a:latin typeface="Consolas"/>
              </a:rPr>
              <a:t> [PK], ProductName, Description, Category, UnitPrice, SupplierID [FK]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WAREHOUSES</a:t>
            </a:r>
          </a:p>
          <a:p>
            <a:pPr>
              <a:spcBef>
                <a:spcPts val="200"/>
              </a:spcBef>
            </a:pPr>
            <a:r>
              <a:rPr sz="950" b="1" u="sng">
                <a:solidFill>
                  <a:srgbClr val="1E3A8A"/>
                </a:solidFill>
                <a:latin typeface="Consolas"/>
              </a:rPr>
              <a:t>WarehouseID</a:t>
            </a:r>
            <a:r>
              <a:rPr sz="950" b="0" u="none">
                <a:solidFill>
                  <a:srgbClr val="334155"/>
                </a:solidFill>
                <a:latin typeface="Consolas"/>
              </a:rPr>
              <a:t> [PK], WarehouseName, Location, Capacity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08760"/>
            <a:ext cx="34134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645920"/>
            <a:ext cx="31391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B45309"/>
                </a:solidFill>
              </a:defRPr>
            </a:pPr>
            <a:r>
              <a:t>PILLAR 2: INVENTORY &amp; ORDERS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INVENTORY</a:t>
            </a:r>
          </a:p>
          <a:p>
            <a:pPr>
              <a:spcBef>
                <a:spcPts val="200"/>
              </a:spcBef>
            </a:pPr>
            <a:r>
              <a:rPr sz="950" b="1" u="sng">
                <a:solidFill>
                  <a:srgbClr val="1E3A8A"/>
                </a:solidFill>
                <a:latin typeface="Consolas"/>
              </a:rPr>
              <a:t>InventoryID</a:t>
            </a:r>
            <a:r>
              <a:rPr sz="950" b="0" u="none">
                <a:solidFill>
                  <a:srgbClr val="334155"/>
                </a:solidFill>
                <a:latin typeface="Consolas"/>
              </a:rPr>
              <a:t> [PK], ProductID [FK], WarehouseID [FK], Quantity, MinimumStock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PURCHASE_ORDERS</a:t>
            </a:r>
          </a:p>
          <a:p>
            <a:pPr>
              <a:spcBef>
                <a:spcPts val="200"/>
              </a:spcBef>
            </a:pPr>
            <a:r>
              <a:rPr sz="950" b="1" u="sng">
                <a:solidFill>
                  <a:srgbClr val="1E3A8A"/>
                </a:solidFill>
                <a:latin typeface="Consolas"/>
              </a:rPr>
              <a:t>PurchaseOrderID</a:t>
            </a:r>
            <a:r>
              <a:rPr sz="950" b="0" u="none">
                <a:solidFill>
                  <a:srgbClr val="334155"/>
                </a:solidFill>
                <a:latin typeface="Consolas"/>
              </a:rPr>
              <a:t> [PK], SupplierID [FK], WarehouseID [FK], OrderDate, Status, TotalAmount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PURCHASE_ORDER_ITEMS</a:t>
            </a:r>
          </a:p>
          <a:p>
            <a:pPr>
              <a:spcBef>
                <a:spcPts val="200"/>
              </a:spcBef>
            </a:pPr>
            <a:r>
              <a:rPr sz="950" b="1" u="sng">
                <a:solidFill>
                  <a:srgbClr val="1E3A8A"/>
                </a:solidFill>
                <a:latin typeface="Consolas"/>
              </a:rPr>
              <a:t>ItemID</a:t>
            </a:r>
            <a:r>
              <a:rPr sz="950" b="0" u="none">
                <a:solidFill>
                  <a:srgbClr val="334155"/>
                </a:solidFill>
                <a:latin typeface="Consolas"/>
              </a:rPr>
              <a:t> [PK], PurchaseOrderID [FK], ProductID [FK], Quantity, UnitPrice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SALES_ORDERS</a:t>
            </a:r>
          </a:p>
          <a:p>
            <a:pPr>
              <a:spcBef>
                <a:spcPts val="200"/>
              </a:spcBef>
            </a:pPr>
            <a:r>
              <a:rPr sz="950" b="1" u="sng">
                <a:solidFill>
                  <a:srgbClr val="1E3A8A"/>
                </a:solidFill>
                <a:latin typeface="Consolas"/>
              </a:rPr>
              <a:t>SalesOrderID</a:t>
            </a:r>
            <a:r>
              <a:rPr sz="950" b="0" u="none">
                <a:solidFill>
                  <a:srgbClr val="334155"/>
                </a:solidFill>
                <a:latin typeface="Consolas"/>
              </a:rPr>
              <a:t> [PK], CustomerName, WarehouseID [FK], OrderDate, Status, TotalAmount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08760"/>
            <a:ext cx="34134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1645920"/>
            <a:ext cx="31391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7848"/>
                </a:solidFill>
              </a:defRPr>
            </a:pPr>
            <a:r>
              <a:t>PILLAR 3: DISPATCH &amp; BILLING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SALES_ORDER_ITEMS</a:t>
            </a:r>
          </a:p>
          <a:p>
            <a:pPr>
              <a:spcBef>
                <a:spcPts val="200"/>
              </a:spcBef>
            </a:pPr>
            <a:r>
              <a:rPr sz="950" b="1" u="sng">
                <a:solidFill>
                  <a:srgbClr val="1E3A8A"/>
                </a:solidFill>
                <a:latin typeface="Consolas"/>
              </a:rPr>
              <a:t>ItemID</a:t>
            </a:r>
            <a:r>
              <a:rPr sz="950" b="0" u="none">
                <a:solidFill>
                  <a:srgbClr val="334155"/>
                </a:solidFill>
                <a:latin typeface="Consolas"/>
              </a:rPr>
              <a:t> [PK], SalesOrderID [FK], ProductID [FK], Quantity, UnitPrice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SHIPMENTS</a:t>
            </a:r>
          </a:p>
          <a:p>
            <a:pPr>
              <a:spcBef>
                <a:spcPts val="200"/>
              </a:spcBef>
            </a:pPr>
            <a:r>
              <a:rPr sz="950" b="1" u="sng">
                <a:solidFill>
                  <a:srgbClr val="1E3A8A"/>
                </a:solidFill>
                <a:latin typeface="Consolas"/>
              </a:rPr>
              <a:t>ShipmentID</a:t>
            </a:r>
            <a:r>
              <a:rPr sz="950" b="0" u="none">
                <a:solidFill>
                  <a:srgbClr val="334155"/>
                </a:solidFill>
                <a:latin typeface="Consolas"/>
              </a:rPr>
              <a:t> [PK], SalesOrderID [FK, UNIQUE], WarehouseID [FK], ShipmentDate, Status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BILLING</a:t>
            </a:r>
          </a:p>
          <a:p>
            <a:pPr>
              <a:spcBef>
                <a:spcPts val="200"/>
              </a:spcBef>
            </a:pPr>
            <a:r>
              <a:rPr sz="950" b="1" u="sng">
                <a:solidFill>
                  <a:srgbClr val="1E3A8A"/>
                </a:solidFill>
                <a:latin typeface="Consolas"/>
              </a:rPr>
              <a:t>BillID</a:t>
            </a:r>
            <a:r>
              <a:rPr sz="950" b="0" u="none">
                <a:solidFill>
                  <a:srgbClr val="334155"/>
                </a:solidFill>
                <a:latin typeface="Consolas"/>
              </a:rPr>
              <a:t> [PK], SalesOrderID [FK, UNIQUE], Amount, PaymentMethod, PaymentStatus, PaymentDate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09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Database Normalization Analysis (Part 1: Core Master Entities)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Functional dependencies, candidate keys, and BCNF verification for master entities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45920"/>
          <a:ext cx="1072865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1463040"/>
                <a:gridCol w="5608015"/>
              </a:tblGrid>
              <a:tr h="89611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Candidate Keys (PK Underlined)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Normal Form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Representative Functional Dependency / Proof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users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b="1" u="sng">
                          <a:solidFill>
                            <a:srgbClr val="1E3A8A"/>
                          </a:solidFill>
                        </a:rPr>
                        <a:t>UserID</a:t>
                      </a:r>
                      <a:r>
                        <a:rPr b="0" u="none">
                          <a:solidFill>
                            <a:srgbClr val="0F172A"/>
                          </a:solidFill>
                        </a:rPr>
                        <a:t> ; Email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UserID → Name, Email, Password, Role; Email → UserID, Name, Password, Role. Both determinants are superkeys. No non-key attributes determine other attributes.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suppliers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b="1" u="sng">
                          <a:solidFill>
                            <a:srgbClr val="1E3A8A"/>
                          </a:solidFill>
                        </a:rPr>
                        <a:t>SupplierID</a:t>
                      </a:r>
                      <a:r>
                        <a:rPr b="0" u="none">
                          <a:solidFill>
                            <a:srgbClr val="0F172A"/>
                          </a:solidFill>
                        </a:rPr>
                        <a:t> ; Email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SupplierID → SupplierName, Phone, Email, Address; Email → SupplierID. All attributes are fully functionally dependent on candidate keys. No partial or transitive dependencies.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products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b="1" u="sng">
                          <a:solidFill>
                            <a:srgbClr val="1E3A8A"/>
                          </a:solidFill>
                        </a:rPr>
                        <a:t>ProductID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ProductID → ProductName, Description, Category, UnitPrice, SupplierID. Supplier attributes are factored into suppliers table, preventing transitive dependency (ProductID ↛ SupplierName).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warehouses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b="1" u="sng">
                          <a:solidFill>
                            <a:srgbClr val="1E3A8A"/>
                          </a:solidFill>
                        </a:rPr>
                        <a:t>WarehouseID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WarehouseID → WarehouseName, Location, Capacity. The determinant WarehouseID is a primary key. All non-key attributes are atomic and independently scalable.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10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Database Normalization Analysis (Part 2: Inventory &amp; Orders)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Decomposition of Many-to-Many junction records and order transaction headers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45920"/>
          <a:ext cx="1072865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1280160"/>
                <a:gridCol w="5425135"/>
              </a:tblGrid>
              <a:tr h="89611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Candidate Keys (PK Underlined)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Normal Form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Representative Functional Dependency / Proof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inventory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b="1" u="sng">
                          <a:solidFill>
                            <a:srgbClr val="1E3A8A"/>
                          </a:solidFill>
                        </a:rPr>
                        <a:t>InventoryID</a:t>
                      </a:r>
                      <a:r>
                        <a:rPr b="0" u="none">
                          <a:solidFill>
                            <a:srgbClr val="0F172A"/>
                          </a:solidFill>
                        </a:rPr>
                        <a:t> ; (ProductID, WarehouseID)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InventoryID → ProductID, WarehouseID, Quantity, MinimumStock. The candidate key (ProductID, WarehouseID) has a UNIQUE constraint. Quantity depends on the whole pair (zero partial dependency).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purchase_orders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b="1" u="sng">
                          <a:solidFill>
                            <a:srgbClr val="1E3A8A"/>
                          </a:solidFill>
                        </a:rPr>
                        <a:t>PurchaseOrderID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PurchaseOrderID → SupplierID, WarehouseID, OrderDate, Status, TotalAmount. Order items are separated into line-item children, avoiding repeating groups (1NF) and transitives (3NF/BCNF).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purchase_order_items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b="1" u="sng">
                          <a:solidFill>
                            <a:srgbClr val="1E3A8A"/>
                          </a:solidFill>
                        </a:rPr>
                        <a:t>ItemID</a:t>
                      </a:r>
                      <a:r>
                        <a:rPr b="0" u="none">
                          <a:solidFill>
                            <a:srgbClr val="0F172A"/>
                          </a:solidFill>
                        </a:rPr>
                        <a:t> ; (PurchaseOrderID, ProductID)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ItemID → PurchaseOrderID, ProductID, Quantity, UnitPrice. Price and quantity depend on the specific line item, eliminating partial dependencies on PurchaseOrderID alone.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sales_orders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b="1" u="sng">
                          <a:solidFill>
                            <a:srgbClr val="1E3A8A"/>
                          </a:solidFill>
                        </a:rPr>
                        <a:t>SalesOrderID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SalesOrderID → CustomerName, WarehouseID, OrderDate, Status, TotalAmount. Fully normalized header entity. Warehouse allocation is decoupled from multi-item lines.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11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Database Normalization Analysis (Part 3: Line Items, Shipments &amp; Billing)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Verification of fulfillment, ledgers, and formal zero-anomaly proof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45920"/>
          <a:ext cx="1072865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1280160"/>
                <a:gridCol w="5425135"/>
              </a:tblGrid>
              <a:tr h="8229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Candidate Keys (PK Underlined)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Normal Form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Representative Functional Dependency / Proof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sales_order_items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b="1" u="sng">
                          <a:solidFill>
                            <a:srgbClr val="1E3A8A"/>
                          </a:solidFill>
                        </a:rPr>
                        <a:t>ItemID</a:t>
                      </a:r>
                      <a:r>
                        <a:rPr b="0" u="none">
                          <a:solidFill>
                            <a:srgbClr val="0F172A"/>
                          </a:solidFill>
                        </a:rPr>
                        <a:t> ; (SalesOrderID, ProductID)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ItemID → SalesOrderID, ProductID, Quantity, UnitPrice. Item line quantities depend on the composite pair. Product attributes are referenced via FK, preventing data anomalies.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shipments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b="1" u="sng">
                          <a:solidFill>
                            <a:srgbClr val="1E3A8A"/>
                          </a:solidFill>
                        </a:rPr>
                        <a:t>ShipmentID</a:t>
                      </a:r>
                      <a:r>
                        <a:rPr b="0" u="none">
                          <a:solidFill>
                            <a:srgbClr val="0F172A"/>
                          </a:solidFill>
                        </a:rPr>
                        <a:t> ; SalesOrderID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ShipmentID → SalesOrderID, WarehouseID, ShipmentDate, Status. SalesOrderID is UNIQUE, creating a normalized 1:1 fulfillment extension without carrier transitives.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b="1" u="sng">
                          <a:solidFill>
                            <a:srgbClr val="1E3A8A"/>
                          </a:solidFill>
                        </a:rPr>
                        <a:t>BillID</a:t>
                      </a:r>
                      <a:r>
                        <a:rPr b="0" u="none">
                          <a:solidFill>
                            <a:srgbClr val="0F172A"/>
                          </a:solidFill>
                        </a:rPr>
                        <a:t> ; SalesOrderID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BillID → SalesOrderID, Amount, PaymentMethod, PaymentStatus, PaymentDate. SalesOrderID is UNIQUE, isolating accounting records from order status changes.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5166360"/>
            <a:ext cx="10728655" cy="12344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230368"/>
            <a:ext cx="1036289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7848"/>
                </a:solidFill>
              </a:defRPr>
            </a:pPr>
            <a:r>
              <a:t>FORMAL NORMALIZATION VERDICT: 100% BCNF COMPLIANT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</a:defRPr>
            </a:pPr>
            <a:r>
              <a:t>All 11 relational tables in the StockMaster database satisfy Boyce-Codd Normal Form (BCNF). Every non-trivial functional dependency X → Y has a determinant X that is a superkey. This mathematically guarantees zero update, insertion, or deletion anomalies across all transactions.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12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Functional Architecture &amp; Core Modules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Modular breakdown of StockMaster subsystems and capability boundaries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4134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Arial"/>
              </a:defRPr>
            </a:pPr>
            <a:r>
              <a:t>01 — USER &amp; RBAC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Session authentication, role policies, permission masking (Admin vs Staff)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45920"/>
            <a:ext cx="34134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288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7848"/>
                </a:solidFill>
                <a:latin typeface="Arial"/>
              </a:defRPr>
            </a:pPr>
            <a:r>
              <a:t>02 — CATALOG &amp; SUPPLIERS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Master SKU definitions, supplier directories, address registries, unit pricing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4134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8288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B45309"/>
                </a:solidFill>
                <a:latin typeface="Arial"/>
              </a:defRPr>
            </a:pPr>
            <a:r>
              <a:t>03 — MULTI-DEPOT INVENTORY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Many-to-Many stock allocation, real-time quantity monitoring, capacity limits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160520"/>
            <a:ext cx="34134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434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B91C1C"/>
                </a:solidFill>
                <a:latin typeface="Arial"/>
              </a:defRPr>
            </a:pPr>
            <a:r>
              <a:t>04 — ORDER &amp; DISPATCH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Procurement POs, sales dispatch SOs, automated stock adjustment triggers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4160520"/>
            <a:ext cx="34134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43434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05 — LOGISTICS &amp; BILLING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Carrier shipment tracking, delivery status, 1:1 invoice generation, ledgers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4160520"/>
            <a:ext cx="34134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43434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Arial"/>
              </a:defRPr>
            </a:pPr>
            <a:r>
              <a:t>06 — DEMAND FORECASTING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Sales run-rate velocity modeling, stockout days calculation, auto-PO drafting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13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Module Interactions &amp; Transaction Lifecycle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End-to-end execution flow from procurement to fulfillment and predictive reordering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10728655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81912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Arial"/>
              </a:defRPr>
            </a:pPr>
            <a:r>
              <a:t>1. User Auth &amp; Role Authorization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User logs in; Flask session establishes identity. UI applies RBAC, restricting financial ledgers and SKU alterations for Warehouse Staff.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331720"/>
            <a:ext cx="10728655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404872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2. Supply Procurement (PO)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Admin/Staff selects supplier, product, destination depot, and quantity. System creates purchase_orders and purchase_order_items records in 'Pending' state.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154680"/>
            <a:ext cx="10728655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27832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Arial"/>
              </a:defRPr>
            </a:pPr>
            <a:r>
              <a:t>3. Warehouse Inbound Delivery &amp; Trigger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Warehouse marks PO 'Received'. The active trigger after_po_receive fires, automatically executing an atomic UPSERT replenishment into the inventory 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77640"/>
            <a:ext cx="10728655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50792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4. Sales Order Dispatch &amp; Stock Deduction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Customer sale is registered. The active trigger after_so_item_insert fires, atomically decrementing inventory stock. CHECK constraint rolls back if stock &lt; 0.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00600"/>
            <a:ext cx="10728655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73752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Arial"/>
              </a:defRPr>
            </a:pPr>
            <a:r>
              <a:t>5. Carrier Logistics &amp; Invoicing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Sales dispatch automatically generates a 1:1 shipments record and a 1:1 billing ledger invoice. Shipment delivery milestone syncs invoice payment dates.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623560"/>
            <a:ext cx="10728655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696712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6. Predictive Forecasting &amp; Auto-PO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Sales run-rate velocity engine recalculates days of remaining stock. Products approaching exhaustion generate automated 1-click restock PO drafts.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14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Multi-Tier System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Decoupled presentation, application backend, analytics engine, and relational database layers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254203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45920"/>
            <a:ext cx="22677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PRESENTATION LAYER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Modern Responsive Web Client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HTML5 Semantic Layout &amp; Responsive Component Styling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Vanilla ES6+ JavaScript Client with Hash-based Router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Dynamic SVG Warehouse Capacity Occupancy Bar Generators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Clean Vector Iconography &amp; Interactive Modal Dialogues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508760"/>
            <a:ext cx="254203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1645920"/>
            <a:ext cx="22677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7848"/>
                </a:solidFill>
                <a:latin typeface="Arial"/>
              </a:defRPr>
            </a:pPr>
            <a:r>
              <a:t>APPLICATION BACKEND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Python Flask REST Microservice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Python 3.10+ Flask Web Microservice Architecture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RESTful API Endpoints (/api/products, /api/inventory, /api/orders, etc.)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Flask Session-based Authentication &amp; Role-Based Access Control (RBAC)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Automated CSV Spreadsheet Generator Pipeline (RFC 4180)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508760"/>
            <a:ext cx="254203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645920"/>
            <a:ext cx="22677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B45309"/>
                </a:solidFill>
                <a:latin typeface="Arial"/>
              </a:defRPr>
            </a:pPr>
            <a:r>
              <a:t>ANALYTICS ENGINE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Predictive Demand &amp; Forecasting Service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Historical Sales Run-Rate Velocity Algorithm (units/day)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Dynamic Days-to-Stockout Remaining Calculator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Multi-Tiered Stockout Risk Classifier (Critical, Moderate, Healthy)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1-Click Auto-Draft Purchase Order Generator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1508760"/>
            <a:ext cx="254203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1645920"/>
            <a:ext cx="22677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DATABASE LAYER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SQLite3 Relational Database Engine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11 Normalized Tables with Foreign Key Cascade Enforcement (PRAGMA foreign_keys = ON)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Event-Driven Active Triggers (after_so_item_insert, after_po_receive)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Materialized Database View (low_stock_alerts_view)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B-Tree Performance Indexes on Foreign Keys (idx_inventory_prod, etc.)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15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DBMS Concept Mapping &amp; Implementation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Direct correlation between theoretical database principles and StockMaster implementation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4592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4876495"/>
              </a:tblGrid>
              <a:tr h="5943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System Function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DBMS Concept Used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Implementation Detail &amp; Rationale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Master Entities Setup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Primary Keys, AUTOINCREMENT, NOT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Enforces unique row identification and disallows null integrity voids.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Multi-Warehouse Allocation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Many-to-Many Relationships, Junction Table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inventory table resolves M:N mapping with composite UNIQUE(ProductID, WarehouseID).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Referential Integrity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Foreign Keys, ON DELETE CASCADE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Guarantees orphan record prevention when parent entities are removed.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Stock Consistency Sync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Active Event Triggers (AFTER INSERT / UPDATE)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after_so_item_insert and after_po_receive automate inventory balance adjustments.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Negative Stock Prevention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CHECK Constraints, Transaction Rollback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CHECK(Quantity &gt;= 0) in inventory forces transaction rollback on stock overdraft.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Low-Stock Notification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Database Views (CREATE VIEW), INNER JOIN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low_stock_alerts_view dynamically evaluates stock &lt;= threshold across depots.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High-Speed Search &amp; Lookups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B-Tree Indexes (CREATE INDEX)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Indexes on ProductID, WarehouseID, and OrderIDs eliminate full table scans.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16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Database Operations &amp; Advanced SQL 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Concrete SQL operations powering transaction handling and automated inventory updates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18488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TRIGGER A: AUTOMATIC STOCK DEDUCTION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74519"/>
            <a:ext cx="4846320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000">
                <a:solidFill>
                  <a:srgbClr val="334155"/>
                </a:solidFill>
              </a:defRPr>
            </a:pPr>
            <a:r>
              <a:t>Executes after customer sale line item insertion: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176272"/>
            <a:ext cx="4846320" cy="2423160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12848"/>
            <a:ext cx="4754880" cy="23317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>
              <a:defRPr sz="950">
                <a:solidFill>
                  <a:srgbClr val="1E3A8A"/>
                </a:solidFill>
                <a:latin typeface="Consolas"/>
              </a:defRPr>
            </a:pPr>
            <a:r>
              <a:t>CREATE TRIGGER after_so_item_insert</a:t>
            </a:r>
            <a:br/>
            <a:r>
              <a:t>AFTER INSERT ON sales_order_items</a:t>
            </a:r>
            <a:br/>
            <a:r>
              <a:t>BEGIN</a:t>
            </a:r>
            <a:br/>
            <a:r>
              <a:t>    UPDATE inventory </a:t>
            </a:r>
            <a:br/>
            <a:r>
              <a:t>    SET Quantity = Quantity - NEW.Quantity </a:t>
            </a:r>
            <a:br/>
            <a:r>
              <a:t>    WHERE ProductID = NEW.ProductID </a:t>
            </a:r>
            <a:br/>
            <a:r>
              <a:t>      AND WarehouseID = (</a:t>
            </a:r>
            <a:br/>
            <a:r>
              <a:t>          SELECT WarehouseID </a:t>
            </a:r>
            <a:br/>
            <a:r>
              <a:t>          FROM sales_orders </a:t>
            </a:r>
            <a:br/>
            <a:r>
              <a:t>          WHERE SalesOrderID = NEW.SalesOrderID</a:t>
            </a:r>
            <a:br/>
            <a:r>
              <a:t>      );</a:t>
            </a:r>
            <a:br/>
            <a:r>
              <a:t>END;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709160"/>
            <a:ext cx="4846320" cy="1463040"/>
          </a:xfrm>
          <a:prstGeom prst="rect">
            <a:avLst/>
          </a:prstGeom>
          <a:noFill/>
        </p:spPr>
        <p:txBody>
          <a:bodyPr wrap="square" lIns="18288">
            <a:spAutoFit/>
          </a:bodyPr>
          <a:lstStyle/>
          <a:p>
            <a:pPr>
              <a:defRPr sz="950">
                <a:solidFill>
                  <a:srgbClr val="334155"/>
                </a:solidFill>
              </a:defRPr>
            </a:pPr>
            <a:r>
              <a:t>• Correct Warehouse Scoping: Uses subquery on sales_orders to ensure stock is deducted only from the dispatching depot.</a:t>
            </a:r>
            <a:br/>
            <a:r>
              <a:t>• Non-Negative Safeguard: If Quantity drops below 0, the table CHECK(Quantity &gt;= 0) constraint causes an immediate atomic rollback.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8095" y="15087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1618488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TRIGGER B: AUTOMATED UPSERT REPLENISHMENT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0975" y="1874519"/>
            <a:ext cx="4846320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000">
                <a:solidFill>
                  <a:srgbClr val="334155"/>
                </a:solidFill>
              </a:defRPr>
            </a:pPr>
            <a:r>
              <a:t>Executes when purchase order status updates to 'Received':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30975" y="2176272"/>
            <a:ext cx="4846320" cy="2423160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2212848"/>
            <a:ext cx="4754880" cy="23317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>
              <a:defRPr sz="900">
                <a:solidFill>
                  <a:srgbClr val="107848"/>
                </a:solidFill>
                <a:latin typeface="Consolas"/>
              </a:defRPr>
            </a:pPr>
            <a:r>
              <a:t>CREATE TRIGGER after_po_receive</a:t>
            </a:r>
            <a:br/>
            <a:r>
              <a:t>AFTER UPDATE OF Status ON purchase_orders</a:t>
            </a:r>
            <a:br/>
            <a:r>
              <a:t>FOR EACH ROW WHEN NEW.Status = 'Received' </a:t>
            </a:r>
            <a:br/>
            <a:r>
              <a:t>              AND OLD.Status = 'Pending'</a:t>
            </a:r>
            <a:br/>
            <a:r>
              <a:t>BEGIN</a:t>
            </a:r>
            <a:br/>
            <a:r>
              <a:t>    INSERT INTO inventory (</a:t>
            </a:r>
            <a:br/>
            <a:r>
              <a:t>        WarehouseID, ProductID, Quantity, MinimumStock</a:t>
            </a:r>
            <a:br/>
            <a:r>
              <a:t>    )</a:t>
            </a:r>
            <a:br/>
            <a:r>
              <a:t>    SELECT NEW.WarehouseID, poi.ProductID, poi.Quantity, 10</a:t>
            </a:r>
            <a:br/>
            <a:r>
              <a:t>    FROM purchase_order_items poi</a:t>
            </a:r>
            <a:br/>
            <a:r>
              <a:t>    WHERE poi.PurchaseOrderID = NEW.PurchaseOrderID</a:t>
            </a:r>
            <a:br/>
            <a:r>
              <a:t>    ON CONFLICT(WarehouseID, ProductID) DO UPDATE SET</a:t>
            </a:r>
            <a:br/>
            <a:r>
              <a:t>        Quantity = Quantity + excluded.Quantity;</a:t>
            </a:r>
            <a:br/>
            <a:r>
              <a:t>END;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0975" y="4709160"/>
            <a:ext cx="4846320" cy="1463040"/>
          </a:xfrm>
          <a:prstGeom prst="rect">
            <a:avLst/>
          </a:prstGeom>
          <a:noFill/>
        </p:spPr>
        <p:txBody>
          <a:bodyPr wrap="square" lIns="18288">
            <a:spAutoFit/>
          </a:bodyPr>
          <a:lstStyle/>
          <a:p>
            <a:pPr>
              <a:defRPr sz="950">
                <a:solidFill>
                  <a:srgbClr val="334155"/>
                </a:solidFill>
              </a:defRPr>
            </a:pPr>
            <a:r>
              <a:t>• Atomic Restocking: Updates multiple items from line items table in one query.</a:t>
            </a:r>
            <a:br/>
            <a:r>
              <a:t>• UPSERT Logic: Uses SQLite ON CONFLICT DO UPDATE to insert new inventory slots or increment existing stock counts.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17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Work Completed &amp; Deliverables (Review 1 &amp; Review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Evolution of StockMaster across course milestone reviews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01 — DATABASE ARCHITECTURE (Review 1)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11 fully normalized tables implementing BCNF/3NF specifications.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Complete data population: 25 interconnected records per table (625 inventory records).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Active triggers (stock decrement &amp; replenishment) and database views.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Foreign key referential integrity with ON DELETE CASCADE rules.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8095" y="16459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0975" y="1783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7848"/>
                </a:solidFill>
                <a:latin typeface="Arial"/>
              </a:defRPr>
            </a:pPr>
            <a:r>
              <a:t>02 — FULL-STACK WEB PLATFORM (Review 1)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Responsive Web UI powered by Python Flask REST APIs.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Dynamic SVG warehouse storage capacity occupancy visualizations.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Complete modal workflows for adding products, suppliers, POs, and sales dispatches.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Real-time operational dashboard with financial summaries and event logs.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605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B45309"/>
                </a:solidFill>
                <a:latin typeface="Arial"/>
              </a:defRPr>
            </a:pPr>
            <a:r>
              <a:t>03 — ROLE-BASED ACCESS CONTROL (Review 2)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Session-based user authentication with live user profile in sidebar.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1-Click live role switcher between System Admin and Warehouse Staff.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Dynamic UI enforcement: hides executive financials and locks billing for staff.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Administrative button gating (restricts SKU alterations for non-admins).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8095" y="41605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42976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B91C1C"/>
                </a:solidFill>
                <a:latin typeface="Arial"/>
              </a:defRPr>
            </a:pPr>
            <a:r>
              <a:t>04 — FORECASTING &amp; SPREADSHEETS (Review 2)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Smart Demand Forecasting Engine calculating sales velocity &amp; stockout days.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Multi-tiered risk categorization (Critical, Moderate, Safe buffer).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1-Click 'Auto-Draft PO' action pre-filling restock purchase orders.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Spreadsheet CSV export buttons across products, inventory, orders, and ledgers.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18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Live Application Showcase &amp; Interface Modules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Primary system views operational in the web application (http://localhost:5000/)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1. Central Operations Dashboard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Features real-time KPI metrics, dynamic SVG warehouse capacity occupancy bars, financial revenue/expense aggregates, and live database union activity logs.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8095" y="16459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0975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7848"/>
                </a:solidFill>
                <a:latin typeface="Arial"/>
              </a:defRPr>
            </a:pPr>
            <a:r>
              <a:t>2. Real-Time Inventory Stock Table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Displays product stocks across warehouses with status badges, warehouse dropdown filters, and a dedicated 'Verify Stock' alert filter.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605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3434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B45309"/>
                </a:solidFill>
                <a:latin typeface="Arial"/>
              </a:defRPr>
            </a:pPr>
            <a:r>
              <a:t>3. Orders, Logistics &amp; Billing Ledger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Multi-tab transaction hub managing Supply POs (with 'Mark Received' action), Customer Sales Orders, Carrier Shipment progression, and Billing invoice ledgers.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8095" y="41605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43434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Arial"/>
              </a:defRPr>
            </a:pPr>
            <a:r>
              <a:t>4. Demand Forecasting &amp; Restock Engine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Real-time sales velocity modeling, days-of-stock countdown, tiered risk indicators (Urgent Reorder, Moderate, Safe), and 1-click 'Auto-Draft PO' prefill.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19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Conclusion &amp; Future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Summary of achievements and future engineering roadmap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18488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PROJECT CONCLUSION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107848"/>
                </a:solidFill>
              </a:defRPr>
            </a:pPr>
            <a:r>
              <a:t>• Bridged Theory &amp; Application: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Successfully engineered a multi-warehouse management system embodying core DBMS concepts (BCNF, Triggers, Views, Indexes, ACID).</a:t>
            </a:r>
          </a:p>
          <a:p>
            <a:pPr>
              <a:spcBef>
                <a:spcPts val="600"/>
              </a:spcBef>
              <a:defRPr sz="1100" b="1">
                <a:solidFill>
                  <a:srgbClr val="107848"/>
                </a:solidFill>
              </a:defRPr>
            </a:pPr>
            <a:r>
              <a:t>• Eliminated Operational Drift: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Automated database triggers replace manual stock math, guaranteeing that inventory strictly mirrors real-world sales and inbound supplies.</a:t>
            </a:r>
          </a:p>
          <a:p>
            <a:pPr>
              <a:spcBef>
                <a:spcPts val="600"/>
              </a:spcBef>
              <a:defRPr sz="1100" b="1">
                <a:solidFill>
                  <a:srgbClr val="107848"/>
                </a:solidFill>
              </a:defRPr>
            </a:pPr>
            <a:r>
              <a:t>• Enterprise-Ready RBAC: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Session-based role authorization ensures operational staff only access fulfillment modules while protecting corporate balance sheets.</a:t>
            </a:r>
          </a:p>
          <a:p>
            <a:pPr>
              <a:spcBef>
                <a:spcPts val="600"/>
              </a:spcBef>
              <a:defRPr sz="1100" b="1">
                <a:solidFill>
                  <a:srgbClr val="107848"/>
                </a:solidFill>
              </a:defRPr>
            </a:pPr>
            <a:r>
              <a:t>• Proactive Supply Protection: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Smart demand forecasting eliminates the guesswork from restocking, transforming reactive warehouses into predictive logistics hubs.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15087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0975" y="1618488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FUTURE ENGINEERING 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0975" y="196596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2563EB"/>
                </a:solidFill>
              </a:defRPr>
            </a:pPr>
            <a:r>
              <a:t>▶ Mobile Barcode / RFID Scanning: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Integrate camera/scanner APIs for rapid stock auditing, reducing dispatch scan times at physical warehouse loading bays.</a:t>
            </a:r>
          </a:p>
          <a:p>
            <a:pPr>
              <a:spcBef>
                <a:spcPts val="600"/>
              </a:spcBef>
              <a:defRPr sz="1100" b="1">
                <a:solidFill>
                  <a:srgbClr val="2563EB"/>
                </a:solidFill>
              </a:defRPr>
            </a:pPr>
            <a:r>
              <a:t>▶ Automated Supplier Webhook APIs: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Establish direct B2B Electronic Data Interchange (EDI) webhooks to automatically submit purchase orders to external suppliers.</a:t>
            </a:r>
          </a:p>
          <a:p>
            <a:pPr>
              <a:spcBef>
                <a:spcPts val="600"/>
              </a:spcBef>
              <a:defRPr sz="1100" b="1">
                <a:solidFill>
                  <a:srgbClr val="2563EB"/>
                </a:solidFill>
              </a:defRPr>
            </a:pPr>
            <a:r>
              <a:t>▶ Cloud Database Migration: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Transition from embedded SQLite to cloud PostgreSQL on AWS RDS with connection pooling for multi-region concurrent access.</a:t>
            </a:r>
          </a:p>
          <a:p>
            <a:pPr>
              <a:spcBef>
                <a:spcPts val="600"/>
              </a:spcBef>
              <a:defRPr sz="1100" b="1">
                <a:solidFill>
                  <a:srgbClr val="2563EB"/>
                </a:solidFill>
              </a:defRPr>
            </a:pPr>
            <a:r>
              <a:t>▶ Machine Learning Demand Prediction: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Incorporate seasonal ARIMA or regression models to factor in holiday demand spikes and supply lead times.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628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1E3A8A"/>
                </a:solidFill>
                <a:latin typeface="Arial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